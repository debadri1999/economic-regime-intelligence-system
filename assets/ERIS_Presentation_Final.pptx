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96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1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R I S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 REGIME INTELLIGENCE SYSTEM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0" y="2011680"/>
            <a:ext cx="3657600" cy="13716"/>
          </a:xfrm>
          <a:prstGeom prst="rect">
            <a:avLst/>
          </a:prstGeom>
          <a:solidFill>
            <a:srgbClr val="0CFFD0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ML for Empirical Asset Pricing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6112" y="2999232"/>
            <a:ext cx="1682496" cy="8595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017520"/>
            <a:ext cx="1645920" cy="8229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017520"/>
            <a:ext cx="155448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090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1.03M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14400" y="3429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STOCK-MONTHS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816352" y="2999232"/>
            <a:ext cx="1682496" cy="8595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3017520"/>
            <a:ext cx="1645920" cy="8229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3017520"/>
            <a:ext cx="155448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3090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834640" y="3429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36592" y="2999232"/>
            <a:ext cx="1682496" cy="8595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2999232"/>
            <a:ext cx="1645920" cy="8229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017520"/>
            <a:ext cx="155448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090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754880" y="3429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MONTHS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56832" y="2999232"/>
            <a:ext cx="1682496" cy="8595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3017520"/>
            <a:ext cx="1645920" cy="8229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3017520"/>
            <a:ext cx="155448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0906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675120" y="3429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DEBADRI SANYAL &amp; SARA TARIQ  |  MS BAIM  |  PURDUE DANIELS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4400" y="4434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Tools: Claude, Cursor, Synthesia  |  Empirical Finance &amp; ML  |  Spring 2026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STATUS: ONLINE  |  REGIME: ACTIVE  |  PIPELINE: v2.0  |  GPU: ENABLED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STATIC MODELS FAIL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regime-aware asset pricing is necessary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850392"/>
            <a:ext cx="4059936" cy="18653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868680"/>
            <a:ext cx="3931920" cy="22860"/>
          </a:xfrm>
          <a:prstGeom prst="rect">
            <a:avLst/>
          </a:prstGeom>
          <a:solidFill>
            <a:srgbClr val="FF3E3E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CRITICAL FAILURE 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assume STATIC relationships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characteristics and returns.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works in bulls.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works in bears.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regime = suboptimal predictions.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850392"/>
            <a:ext cx="4059936" cy="18653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868680"/>
            <a:ext cx="4023360" cy="18288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868680"/>
            <a:ext cx="39319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ERIS SOLUTION 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Neural Network that CONDITIONS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predictions on macro state.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learns WHICH characteristics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in WHICH regime automatically.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2907792"/>
            <a:ext cx="2596896" cy="10881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2926080"/>
            <a:ext cx="2560320" cy="10515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2926080"/>
            <a:ext cx="246888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291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excess returns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Ri,t - Rf,t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82112" y="2907792"/>
            <a:ext cx="2596896" cy="10881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0" y="2926080"/>
            <a:ext cx="2560320" cy="10515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2926080"/>
            <a:ext cx="2468880" cy="22860"/>
          </a:xfrm>
          <a:prstGeom prst="rect">
            <a:avLst/>
          </a:prstGeom>
          <a:solidFill>
            <a:srgbClr val="FF8C42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291840" y="3291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/ Transition / Bear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3-state HMM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16752" y="2907792"/>
            <a:ext cx="2596896" cy="10881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35040" y="2926080"/>
            <a:ext cx="2560320" cy="10515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2926080"/>
            <a:ext cx="246888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26480" y="3291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long-short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Value-weighted portfolio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2001-2021  |  9,778 STOCKS  |  14,436 TOTAL  |  OPTION B: MODERN ALGORITHMIC ERA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PIPELINE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252 parquet files to ML-ready panel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1956816" cy="2048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1920240" cy="2011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182880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914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6012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65760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parquet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1,520,078 raw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14,436 stocks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945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FFD0"/>
                </a:solidFill>
              </a:rPr>
              <a:t>▸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2359152" y="850392"/>
            <a:ext cx="1956816" cy="2048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377440" y="868680"/>
            <a:ext cx="1920240" cy="2011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23160" y="868680"/>
            <a:ext cx="182880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423160" y="914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960120"/>
            <a:ext cx="457200" cy="4572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246888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2468880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492,397 null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ret_excess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2976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FFD0"/>
                </a:solidFill>
              </a:rPr>
              <a:t>▸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4553712" y="850392"/>
            <a:ext cx="1956816" cy="2048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0" y="868680"/>
            <a:ext cx="1920240" cy="2011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617720" y="868680"/>
            <a:ext cx="182880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4617720" y="914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960120"/>
            <a:ext cx="457200" cy="45720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466344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4663440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macro + 94 char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+ 74 SIC dummies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176 total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49224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CFFD0"/>
                </a:solidFill>
              </a:rPr>
              <a:t>▸</a:t>
            </a:r>
            <a:endParaRPr lang="en-US" sz="2000" dirty="0"/>
          </a:p>
        </p:txBody>
      </p:sp>
      <p:sp>
        <p:nvSpPr>
          <p:cNvPr id="49" name="Shape 44"/>
          <p:cNvSpPr/>
          <p:nvPr/>
        </p:nvSpPr>
        <p:spPr>
          <a:xfrm>
            <a:off x="6656832" y="850392"/>
            <a:ext cx="1956816" cy="2048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6675120" y="868680"/>
            <a:ext cx="1920240" cy="2011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720840" y="868680"/>
            <a:ext cx="182880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6720840" y="914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960120"/>
            <a:ext cx="457200" cy="4572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676656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1400" dirty="0"/>
          </a:p>
        </p:txBody>
      </p:sp>
      <p:sp>
        <p:nvSpPr>
          <p:cNvPr id="55" name="Text 49"/>
          <p:cNvSpPr/>
          <p:nvPr/>
        </p:nvSpPr>
        <p:spPr>
          <a:xfrm>
            <a:off x="6766560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1,027,681 clean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4,094/month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256032" y="3090672"/>
            <a:ext cx="8631936" cy="13167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7" name="Shape 51"/>
          <p:cNvSpPr/>
          <p:nvPr/>
        </p:nvSpPr>
        <p:spPr>
          <a:xfrm>
            <a:off x="274320" y="3108960"/>
            <a:ext cx="8595360" cy="12801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320040" y="310896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457200" y="3154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438912" y="3410712"/>
            <a:ext cx="8266176" cy="1152144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1" name="Shape 55"/>
          <p:cNvSpPr/>
          <p:nvPr/>
        </p:nvSpPr>
        <p:spPr>
          <a:xfrm>
            <a:off x="457200" y="3429000"/>
            <a:ext cx="8229600" cy="1115568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502920" y="3429000"/>
            <a:ext cx="813816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502920" y="35021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2560320" y="35021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4617720" y="35021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800" dirty="0"/>
          </a:p>
        </p:txBody>
      </p:sp>
      <p:sp>
        <p:nvSpPr>
          <p:cNvPr id="66" name="Text 60"/>
          <p:cNvSpPr/>
          <p:nvPr/>
        </p:nvSpPr>
        <p:spPr>
          <a:xfrm>
            <a:off x="6675120" y="35021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502920" y="3758184"/>
            <a:ext cx="813816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68" name="Text 62"/>
          <p:cNvSpPr/>
          <p:nvPr/>
        </p:nvSpPr>
        <p:spPr>
          <a:xfrm>
            <a:off x="502920" y="3794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macro_*</a:t>
            </a:r>
            <a:endParaRPr lang="en-US" sz="800" dirty="0"/>
          </a:p>
        </p:txBody>
      </p:sp>
      <p:sp>
        <p:nvSpPr>
          <p:cNvPr id="69" name="Text 63"/>
          <p:cNvSpPr/>
          <p:nvPr/>
        </p:nvSpPr>
        <p:spPr>
          <a:xfrm>
            <a:off x="2560320" y="3794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70" name="Text 64"/>
          <p:cNvSpPr/>
          <p:nvPr/>
        </p:nvSpPr>
        <p:spPr>
          <a:xfrm>
            <a:off x="4617720" y="3794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dp, ep, tms, dfy, svar, bm, ntis, tbl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6675120" y="37947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+ Stress + NN Encoder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502920" y="40507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characteristic_*</a:t>
            </a:r>
            <a:endParaRPr lang="en-US" sz="800" dirty="0"/>
          </a:p>
        </p:txBody>
      </p:sp>
      <p:sp>
        <p:nvSpPr>
          <p:cNvPr id="73" name="Text 67"/>
          <p:cNvSpPr/>
          <p:nvPr/>
        </p:nvSpPr>
        <p:spPr>
          <a:xfrm>
            <a:off x="2560320" y="40507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800" dirty="0"/>
          </a:p>
        </p:txBody>
      </p:sp>
      <p:sp>
        <p:nvSpPr>
          <p:cNvPr id="74" name="Text 68"/>
          <p:cNvSpPr/>
          <p:nvPr/>
        </p:nvSpPr>
        <p:spPr>
          <a:xfrm>
            <a:off x="4617720" y="40507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mom12m, mvel1, bm, beta, idiovol...</a:t>
            </a:r>
            <a:endParaRPr lang="en-US" sz="800" dirty="0"/>
          </a:p>
        </p:txBody>
      </p:sp>
      <p:sp>
        <p:nvSpPr>
          <p:cNvPr id="75" name="Text 69"/>
          <p:cNvSpPr/>
          <p:nvPr/>
        </p:nvSpPr>
        <p:spPr>
          <a:xfrm>
            <a:off x="6675120" y="40507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prediction features</a:t>
            </a:r>
            <a:endParaRPr lang="en-US" sz="800" dirty="0"/>
          </a:p>
        </p:txBody>
      </p:sp>
      <p:sp>
        <p:nvSpPr>
          <p:cNvPr id="76" name="Text 70"/>
          <p:cNvSpPr/>
          <p:nvPr/>
        </p:nvSpPr>
        <p:spPr>
          <a:xfrm>
            <a:off x="502920" y="43068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sic2_*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2560320" y="43068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800" dirty="0"/>
          </a:p>
        </p:txBody>
      </p:sp>
      <p:sp>
        <p:nvSpPr>
          <p:cNvPr id="78" name="Text 72"/>
          <p:cNvSpPr/>
          <p:nvPr/>
        </p:nvSpPr>
        <p:spPr>
          <a:xfrm>
            <a:off x="4617720" y="43068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dummies (2-digit SIC)</a:t>
            </a:r>
            <a:endParaRPr lang="en-US" sz="800" dirty="0"/>
          </a:p>
        </p:txBody>
      </p:sp>
      <p:sp>
        <p:nvSpPr>
          <p:cNvPr id="79" name="Text 73"/>
          <p:cNvSpPr/>
          <p:nvPr/>
        </p:nvSpPr>
        <p:spPr>
          <a:xfrm>
            <a:off x="6675120" y="43068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Cross-sectional controls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VALIDATION: EXPANDING WINDOW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 look-ahead — OOS 2010-01 to 2021-12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21396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21031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5448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616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784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1188720"/>
            <a:ext cx="2011680" cy="274320"/>
          </a:xfrm>
          <a:prstGeom prst="rect">
            <a:avLst/>
          </a:prstGeom>
          <a:solidFill>
            <a:srgbClr val="1E90FF">
              <a:alpha val="50000"/>
            </a:srgbClr>
          </a:solidFill>
          <a:ln w="6350">
            <a:solidFill>
              <a:srgbClr val="1E9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651760" y="1188720"/>
            <a:ext cx="502920" cy="274320"/>
          </a:xfrm>
          <a:prstGeom prst="rect">
            <a:avLst/>
          </a:prstGeom>
          <a:solidFill>
            <a:srgbClr val="39FF14">
              <a:alpha val="60000"/>
            </a:srgbClr>
          </a:solidFill>
          <a:ln w="6350">
            <a:solidFill>
              <a:srgbClr val="39FF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1188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" y="1600200"/>
            <a:ext cx="2766060" cy="274320"/>
          </a:xfrm>
          <a:prstGeom prst="rect">
            <a:avLst/>
          </a:prstGeom>
          <a:solidFill>
            <a:srgbClr val="1E90FF">
              <a:alpha val="50000"/>
            </a:srgbClr>
          </a:solidFill>
          <a:ln w="6350">
            <a:solidFill>
              <a:srgbClr val="1E9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406140" y="1600200"/>
            <a:ext cx="502920" cy="274320"/>
          </a:xfrm>
          <a:prstGeom prst="rect">
            <a:avLst/>
          </a:prstGeom>
          <a:solidFill>
            <a:srgbClr val="39FF14">
              <a:alpha val="60000"/>
            </a:srgbClr>
          </a:solidFill>
          <a:ln w="6350">
            <a:solidFill>
              <a:srgbClr val="39FF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6140" y="1600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0080" y="2011680"/>
            <a:ext cx="3520440" cy="274320"/>
          </a:xfrm>
          <a:prstGeom prst="rect">
            <a:avLst/>
          </a:prstGeom>
          <a:solidFill>
            <a:srgbClr val="1E90FF">
              <a:alpha val="50000"/>
            </a:srgbClr>
          </a:solidFill>
          <a:ln w="6350">
            <a:solidFill>
              <a:srgbClr val="1E90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160520" y="2011680"/>
            <a:ext cx="502920" cy="274320"/>
          </a:xfrm>
          <a:prstGeom prst="rect">
            <a:avLst/>
          </a:prstGeom>
          <a:solidFill>
            <a:srgbClr val="39FF14">
              <a:alpha val="60000"/>
            </a:srgbClr>
          </a:solidFill>
          <a:ln w="6350">
            <a:solidFill>
              <a:srgbClr val="39FF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20116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40080" y="2423160"/>
            <a:ext cx="4274820" cy="274320"/>
          </a:xfrm>
          <a:prstGeom prst="rect">
            <a:avLst/>
          </a:prstGeom>
          <a:solidFill>
            <a:srgbClr val="1E90FF">
              <a:alpha val="50000"/>
            </a:srgbClr>
          </a:solidFill>
          <a:ln w="6350">
            <a:solidFill>
              <a:srgbClr val="1E9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914900" y="2423160"/>
            <a:ext cx="502920" cy="274320"/>
          </a:xfrm>
          <a:prstGeom prst="rect">
            <a:avLst/>
          </a:prstGeom>
          <a:solidFill>
            <a:srgbClr val="39FF14">
              <a:alpha val="60000"/>
            </a:srgbClr>
          </a:solidFill>
          <a:ln w="6350">
            <a:solidFill>
              <a:srgbClr val="39FF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4900" y="2423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47472" y="3182112"/>
            <a:ext cx="1956816" cy="905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3200400"/>
            <a:ext cx="1920240" cy="868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3200400"/>
            <a:ext cx="182880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2735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365760" y="36347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MONTHS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450592" y="3182112"/>
            <a:ext cx="1956816" cy="905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468880" y="3200400"/>
            <a:ext cx="1920240" cy="868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3200400"/>
            <a:ext cx="182880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468880" y="32735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519,104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2468880" y="36347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553712" y="3182112"/>
            <a:ext cx="1956816" cy="905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572000" y="3200400"/>
            <a:ext cx="1920240" cy="868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3200400"/>
            <a:ext cx="182880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0" y="32735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+ 24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4572000" y="36347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NN RETRAINS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656832" y="3182112"/>
            <a:ext cx="1956816" cy="9052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675120" y="3200400"/>
            <a:ext cx="1920240" cy="8686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0840" y="3200400"/>
            <a:ext cx="182880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675120" y="32735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6675120" y="36347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2" name="Shape 7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VALIDATION: ✓ NO FUTURE DATA  |  ✓ EXPANDING ONLY  |  ✓ STRICT TEMPORAL ORDER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ARSENAL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complexity — linear → tree → neural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1664208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1627632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11978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6888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1772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Simplest benchmark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tuning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6888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Regularized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1772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176-dim multicollinearity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1.0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6888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1772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SOTA tabular; nonlinear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trees, d5, lr=0.05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6888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1772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GPU alternative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trees, d5, lr=0.05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6888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PyTorch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1772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Macro-conditioned pricing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embed=16, 128→64→32, 30ep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2724912"/>
            <a:ext cx="4151376" cy="18653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0"/>
            <a:ext cx="4114800" cy="18288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2743200"/>
            <a:ext cx="4023360" cy="22860"/>
          </a:xfrm>
          <a:prstGeom prst="rect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RATIONALE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complexity: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Regularized → Tree → Neural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RF: Too slow on 1M × 176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Lasso: Similar to Ridge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adds capability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45152" y="2724912"/>
            <a:ext cx="4151376" cy="18653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663440" y="2743200"/>
            <a:ext cx="4114800" cy="18288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2743200"/>
            <a:ext cx="4023360" cy="22860"/>
          </a:xfrm>
          <a:prstGeom prst="rect">
            <a:avLst/>
          </a:prstGeom>
          <a:solidFill>
            <a:srgbClr val="FF8C42">
              <a:alpha val="6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OPTIMIZATION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subsample=0.8, colsample=0.8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GPU device enabled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NN: Cosine LR (1e-3→1e-5), 30 epochs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clipping: max_norm=1.0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4096 (better gradients)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REGIME-AWARE NEURAL NETWORK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two-headed architecture — the innovation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96112"/>
            <a:ext cx="2322576" cy="5852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914400"/>
            <a:ext cx="2286000" cy="5486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914400"/>
            <a:ext cx="2194560" cy="22860"/>
          </a:xfrm>
          <a:prstGeom prst="rect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960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macro_* (8 features)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1508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FFD0"/>
                </a:solidFill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56032" y="1764792"/>
            <a:ext cx="2322576" cy="8138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1783080"/>
            <a:ext cx="2286000" cy="7772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1783080"/>
            <a:ext cx="219456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1828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ENCODER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20848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Linear(8→64) → BN → 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Linear(64→32) → BN → 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Linear(32→16) → ReLU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88720" y="2606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CFFD0"/>
                </a:solidFill>
              </a:rPr>
              <a:t>↓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56032" y="2862072"/>
            <a:ext cx="2322576" cy="4937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" y="2880360"/>
            <a:ext cx="2286000" cy="4572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880360"/>
            <a:ext cx="219456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EMBEDDING (16-dim)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5176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─▸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73552" y="896112"/>
            <a:ext cx="2048256" cy="5852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291840" y="914400"/>
            <a:ext cx="2011680" cy="5486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914400"/>
            <a:ext cx="1920240" cy="2286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+ SIC (168)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0" y="150876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22192" y="2084832"/>
            <a:ext cx="3511296" cy="11338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840480" y="2103120"/>
            <a:ext cx="3474720" cy="10972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86200" y="2103120"/>
            <a:ext cx="3383280" cy="22860"/>
          </a:xfrm>
          <a:prstGeom prst="rect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97764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PREDICTOR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977640" y="2423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Linear(184→128) → BN → ReLU → Drop(0.15)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Linear(128→64) → BN → ReLU → Drop(0.1)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Linear(64→32) → ReLU → Linear(32→1)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0664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62672" y="2267712"/>
            <a:ext cx="1133856" cy="7680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80960" y="2286000"/>
            <a:ext cx="1097280" cy="7315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26680" y="2286000"/>
            <a:ext cx="100584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726680" y="2331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ret_excess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(predicted)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3547872"/>
            <a:ext cx="8631936" cy="9509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74320" y="3566160"/>
            <a:ext cx="8595360" cy="9144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3566160"/>
            <a:ext cx="850392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embedding creates a 'regime lens' through which the network views firm characteristics. In Bull regimes it amplifies momentum signals. In Bear regimes it amplifies value/quality. This is regime-dependent pricing — confirmed by SHAP analysis. Result: IC = 4.80%, highest of all models.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PERFORMANCE — ACTUAL RESULTS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2010-2021 (144 months) | 508,577 predictions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1664208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1627632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5260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OOS R² (%)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8516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772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028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IC (%)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8284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11978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5260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-2.36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8516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772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0.1013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028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8284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Linear: misses interactions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75260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-2.36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8516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1772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0.1013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5028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8284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helps, still linear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004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5260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-2.49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8516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1772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0.1016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5028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8284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ranking power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004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5260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-2.91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8516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1772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0.1017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5028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8284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tree + portfolio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5260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-7.79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18516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0.1848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1772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0.1038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5028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4.80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8284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IC — regime lens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2862072"/>
            <a:ext cx="415137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4320" y="2816352"/>
            <a:ext cx="4114800" cy="1833372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2880360"/>
            <a:ext cx="402336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R² IS NEGATIVE BUT IC IS STRONG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720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penalizes magnitude errors quadratically.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only need correct RANKING.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&gt; 2% = actionable (XGB: 3.06%, LGBM: 3.11%)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&gt; 4% = exceptional (RegimeNN: 4.80%)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vs IC disconnect is a well-known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in empirical asset pricing.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et al. (2020): OLS R²=0.40%, NN=3.19%.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45152" y="2862072"/>
            <a:ext cx="415137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663440" y="2802636"/>
            <a:ext cx="4114800" cy="1837944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2880360"/>
            <a:ext cx="402336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8463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4632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RegimeNN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achieves IC = 4.80%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HIGHEST of all models.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 macro embedding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the regime conditioning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stock RANKING even though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predictions overshoot.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Sharpe = 0.469 confirms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 from ranking power.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DETECTION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 Stress Index — crisis-validated on 252 months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4882896" cy="19568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4846320" cy="19202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4754880" cy="22860"/>
          </a:xfrm>
          <a:prstGeom prst="rect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914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MARKOV MODEL (3 STATES)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12344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8 macro predictors (Z-scored)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Gaussian HMM, full covariance, 200 iter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Labeling: dp mean → low=Bull, mid=Trans, high=Bear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Bull=141, Transition=91, Bear=19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252 months, 2001-2021)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76672" y="850392"/>
            <a:ext cx="3511296" cy="19568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94960" y="868680"/>
            <a:ext cx="3474720" cy="19202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868680"/>
            <a:ext cx="3383280" cy="22860"/>
          </a:xfrm>
          <a:prstGeom prst="rect">
            <a:avLst/>
          </a:prstGeom>
          <a:solidFill>
            <a:srgbClr val="FF3E3E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9144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INDEX (0-100)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1234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= -1×TMS + 1×DFY + 1×SVAR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inverted → recession signal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DFY high → credit fear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 high → market volatility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normalized 0-100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2999232"/>
            <a:ext cx="2048256" cy="13167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017520"/>
            <a:ext cx="2011680" cy="12801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017520"/>
            <a:ext cx="1920240" cy="22860"/>
          </a:xfrm>
          <a:prstGeom prst="rect">
            <a:avLst/>
          </a:prstGeom>
          <a:solidFill>
            <a:srgbClr val="FF3E3E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2007-09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 | Stress &gt;75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DETECTED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50592" y="2999232"/>
            <a:ext cx="2048256" cy="13167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468880" y="3017520"/>
            <a:ext cx="2011680" cy="12801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3017520"/>
            <a:ext cx="1920240" cy="22860"/>
          </a:xfrm>
          <a:prstGeom prst="rect">
            <a:avLst/>
          </a:prstGeom>
          <a:solidFill>
            <a:srgbClr val="FF3E3E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56032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6032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 | Stress &gt;80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6032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DETECTED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45152" y="2999232"/>
            <a:ext cx="2048256" cy="13167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3017520"/>
            <a:ext cx="2011680" cy="12801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017520"/>
            <a:ext cx="1920240" cy="22860"/>
          </a:xfrm>
          <a:prstGeom prst="rect">
            <a:avLst/>
          </a:prstGeom>
          <a:solidFill>
            <a:srgbClr val="FF8C42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 Q4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5488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 | Stress 50-65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DETECTED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39712" y="2999232"/>
            <a:ext cx="2048256" cy="13167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58000" y="3017520"/>
            <a:ext cx="2011680" cy="12801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3720" y="3017520"/>
            <a:ext cx="192024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2013-17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4944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4944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 | Stress &lt;30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4944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DETECTED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HMM: 4/4 CRISES DETECTED  |  Bull: 141mo  |  Transition: 91mo  |  Bear: 19mo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PERFORMANCE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long-short, value-weighted — the economic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1664208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1627632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5260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8516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DD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772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(ann)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028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(%/mo)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82840" y="94183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11978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5260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8516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-0.337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772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-14.92%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028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82840" y="1234440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signal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75260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8516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-0.337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1772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-14.92%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5028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0.003%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82840" y="1490472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signal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004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5260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8516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-0.444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1772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-4.56%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5028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0.867%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82840" y="1746504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BEST PORTFOLIO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004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5260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8516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-0.584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1772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-10.73%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5028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0.353%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82840" y="2002536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Sharpe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5260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18516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-0.642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1772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-11.38%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5028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0.298%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82840" y="2258568"/>
            <a:ext cx="134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Sharpe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2587752"/>
            <a:ext cx="4151376" cy="9509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4320" y="2606040"/>
            <a:ext cx="4114800" cy="9144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2606040"/>
            <a:ext cx="402336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XGBOOST: BEST PORTFOLIO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0.469 = positive risk-adjusted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0.867%/mo = long beats short consistently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IC (3.06%) + stable predictions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45152" y="2587752"/>
            <a:ext cx="4151376" cy="9509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663440" y="2606040"/>
            <a:ext cx="4114800" cy="9144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2606040"/>
            <a:ext cx="402336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8463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REGIMENN: HIGHEST IC, MODEST SHARPE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4632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= 4.80% (exceptional ranking power)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magnitude overshoots hurt portfolio weights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regime-conditioning works for ranking,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training for magnitude calibration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56032" y="3730752"/>
            <a:ext cx="8631936" cy="11338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0040" y="374904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411480" y="379476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RETURNS: LONG-SHORT STRATEGIES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11480" y="400507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(cyan) leads | LightGBM &amp; RegimeNN positive | OLS/Ridge flat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48640" y="4251960"/>
            <a:ext cx="8138160" cy="45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1" name="Shape 79"/>
          <p:cNvSpPr/>
          <p:nvPr/>
        </p:nvSpPr>
        <p:spPr>
          <a:xfrm>
            <a:off x="548640" y="4325112"/>
            <a:ext cx="8138160" cy="45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2" name="Shape 80"/>
          <p:cNvSpPr/>
          <p:nvPr/>
        </p:nvSpPr>
        <p:spPr>
          <a:xfrm>
            <a:off x="548640" y="4398264"/>
            <a:ext cx="8138160" cy="45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3" name="Shape 81"/>
          <p:cNvSpPr/>
          <p:nvPr/>
        </p:nvSpPr>
        <p:spPr>
          <a:xfrm>
            <a:off x="548640" y="4471416"/>
            <a:ext cx="8138160" cy="45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4" name="Shape 82"/>
          <p:cNvSpPr/>
          <p:nvPr/>
        </p:nvSpPr>
        <p:spPr>
          <a:xfrm>
            <a:off x="548640" y="4544568"/>
            <a:ext cx="8138160" cy="45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5" name="Shape 83"/>
          <p:cNvSpPr/>
          <p:nvPr/>
        </p:nvSpPr>
        <p:spPr>
          <a:xfrm>
            <a:off x="612648" y="4462272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275588" y="4407408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938528" y="4421124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601468" y="4352544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264408" y="4366260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927348" y="4325112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4590288" y="4379976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5253228" y="4338828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5916168" y="4297680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579108" y="4311396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242048" y="4352544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904988" y="4379976"/>
            <a:ext cx="54864" cy="54864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621792" y="4498848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284732" y="4471416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1947672" y="4457700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610612" y="4416552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3273552" y="4430268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936492" y="4389120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599432" y="4402836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5262372" y="4361688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5925312" y="4375404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6588252" y="4347972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251192" y="4389120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7914132" y="4416552"/>
            <a:ext cx="36576" cy="36576"/>
          </a:xfrm>
          <a:prstGeom prst="ellipse">
            <a:avLst/>
          </a:prstGeom>
          <a:solidFill>
            <a:srgbClr val="FF8C42">
              <a:alpha val="8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SHAP: FEATURE IMPORTANCE BY REGIME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 — feature importance SHIFTS across regimes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2779776" cy="24140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2743200" cy="23774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265176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1161288"/>
            <a:ext cx="1399032" cy="329184"/>
          </a:xfrm>
          <a:prstGeom prst="rect">
            <a:avLst/>
          </a:prstGeom>
          <a:solidFill>
            <a:srgbClr val="39FF14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1161288"/>
            <a:ext cx="1399032" cy="329184"/>
          </a:xfrm>
          <a:prstGeom prst="rect">
            <a:avLst/>
          </a:prstGeom>
          <a:noFill/>
          <a:ln w="635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1430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mom12m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816352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71600" y="1545336"/>
            <a:ext cx="1165860" cy="329184"/>
          </a:xfrm>
          <a:prstGeom prst="rect">
            <a:avLst/>
          </a:prstGeom>
          <a:solidFill>
            <a:srgbClr val="39FF14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1545336"/>
            <a:ext cx="1165860" cy="329184"/>
          </a:xfrm>
          <a:prstGeom prst="rect">
            <a:avLst/>
          </a:prstGeom>
          <a:noFill/>
          <a:ln w="635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15270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mom6m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8318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371600" y="1929384"/>
            <a:ext cx="932688" cy="329184"/>
          </a:xfrm>
          <a:prstGeom prst="rect">
            <a:avLst/>
          </a:prstGeom>
          <a:solidFill>
            <a:srgbClr val="39FF14">
              <a:alpha val="7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1929384"/>
            <a:ext cx="932688" cy="329184"/>
          </a:xfrm>
          <a:prstGeom prst="rect">
            <a:avLst/>
          </a:prstGeom>
          <a:noFill/>
          <a:ln w="6350">
            <a:solidFill>
              <a:srgbClr val="39FF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19110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50008" y="191109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mom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0" y="2313432"/>
            <a:ext cx="699516" cy="329184"/>
          </a:xfrm>
          <a:prstGeom prst="rect">
            <a:avLst/>
          </a:prstGeom>
          <a:solidFill>
            <a:srgbClr val="39FF14">
              <a:alpha val="7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71600" y="2313432"/>
            <a:ext cx="699516" cy="329184"/>
          </a:xfrm>
          <a:prstGeom prst="rect">
            <a:avLst/>
          </a:prstGeom>
          <a:noFill/>
          <a:ln w="6350">
            <a:solidFill>
              <a:srgbClr val="39FF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mvel1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116836" y="229514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371600" y="2697480"/>
            <a:ext cx="544068" cy="329184"/>
          </a:xfrm>
          <a:prstGeom prst="rect">
            <a:avLst/>
          </a:prstGeom>
          <a:solidFill>
            <a:srgbClr val="39FF14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371600" y="2697480"/>
            <a:ext cx="544068" cy="329184"/>
          </a:xfrm>
          <a:prstGeom prst="rect">
            <a:avLst/>
          </a:prstGeom>
          <a:noFill/>
          <a:ln w="6350">
            <a:solidFill>
              <a:srgbClr val="39FF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679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61388" y="26791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turnover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914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 (141 mo)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82112" y="850392"/>
            <a:ext cx="2779776" cy="24140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200400" y="868680"/>
            <a:ext cx="2743200" cy="23774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868680"/>
            <a:ext cx="265176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297680" y="1161288"/>
            <a:ext cx="1321308" cy="329184"/>
          </a:xfrm>
          <a:prstGeom prst="rect">
            <a:avLst/>
          </a:prstGeom>
          <a:solidFill>
            <a:srgbClr val="FF8C42">
              <a:alpha val="7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297680" y="1161288"/>
            <a:ext cx="1321308" cy="329184"/>
          </a:xfrm>
          <a:prstGeom prst="rect">
            <a:avLst/>
          </a:prstGeom>
          <a:noFill/>
          <a:ln w="6350">
            <a:solidFill>
              <a:srgbClr val="FF8C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0" y="11430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idiovol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64708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idio vol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97680" y="1545336"/>
            <a:ext cx="1088136" cy="329184"/>
          </a:xfrm>
          <a:prstGeom prst="rect">
            <a:avLst/>
          </a:prstGeom>
          <a:solidFill>
            <a:srgbClr val="FF8C42">
              <a:alpha val="7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297680" y="1545336"/>
            <a:ext cx="1088136" cy="329184"/>
          </a:xfrm>
          <a:prstGeom prst="rect">
            <a:avLst/>
          </a:prstGeom>
          <a:noFill/>
          <a:ln w="6350">
            <a:solidFill>
              <a:srgbClr val="FF8C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0" y="15270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31536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risk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297680" y="1929384"/>
            <a:ext cx="854964" cy="329184"/>
          </a:xfrm>
          <a:prstGeom prst="rect">
            <a:avLst/>
          </a:prstGeom>
          <a:solidFill>
            <a:srgbClr val="FF8C42">
              <a:alpha val="7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297680" y="1929384"/>
            <a:ext cx="854964" cy="329184"/>
          </a:xfrm>
          <a:prstGeom prst="rect">
            <a:avLst/>
          </a:prstGeom>
          <a:noFill/>
          <a:ln w="6350">
            <a:solidFill>
              <a:srgbClr val="FF8C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0" y="19110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98364" y="191109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turnover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297680" y="2313432"/>
            <a:ext cx="777240" cy="329184"/>
          </a:xfrm>
          <a:prstGeom prst="rect">
            <a:avLst/>
          </a:prstGeom>
          <a:solidFill>
            <a:srgbClr val="FF8C42">
              <a:alpha val="7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297680" y="2313432"/>
            <a:ext cx="777240" cy="329184"/>
          </a:xfrm>
          <a:prstGeom prst="rect">
            <a:avLst/>
          </a:prstGeom>
          <a:noFill/>
          <a:ln w="6350">
            <a:solidFill>
              <a:srgbClr val="FF8C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0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M:svar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0" y="229514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 var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297680" y="2697480"/>
            <a:ext cx="621792" cy="329184"/>
          </a:xfrm>
          <a:prstGeom prst="rect">
            <a:avLst/>
          </a:prstGeom>
          <a:solidFill>
            <a:srgbClr val="FF8C42">
              <a:alpha val="7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297680" y="2697480"/>
            <a:ext cx="621792" cy="329184"/>
          </a:xfrm>
          <a:prstGeom prst="rect">
            <a:avLst/>
          </a:prstGeom>
          <a:noFill/>
          <a:ln w="6350">
            <a:solidFill>
              <a:srgbClr val="FF8C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0" y="2679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retvol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65192" y="26791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 vol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291840" y="914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 (91 mo)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08192" y="850392"/>
            <a:ext cx="2779776" cy="241401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126480" y="868680"/>
            <a:ext cx="2743200" cy="237744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72200" y="868680"/>
            <a:ext cx="265176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223760" y="1161288"/>
            <a:ext cx="1399032" cy="329184"/>
          </a:xfrm>
          <a:prstGeom prst="rect">
            <a:avLst/>
          </a:prstGeom>
          <a:solidFill>
            <a:srgbClr val="FF3E3E">
              <a:alpha val="7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7223760" y="1161288"/>
            <a:ext cx="1399032" cy="329184"/>
          </a:xfrm>
          <a:prstGeom prst="rect">
            <a:avLst/>
          </a:prstGeom>
          <a:noFill/>
          <a:ln w="6350">
            <a:solidFill>
              <a:srgbClr val="FF3E3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0" y="11430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668512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book/mkt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223760" y="1545336"/>
            <a:ext cx="1165860" cy="329184"/>
          </a:xfrm>
          <a:prstGeom prst="rect">
            <a:avLst/>
          </a:prstGeom>
          <a:solidFill>
            <a:srgbClr val="FF3E3E">
              <a:alpha val="7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7223760" y="1545336"/>
            <a:ext cx="1165860" cy="329184"/>
          </a:xfrm>
          <a:prstGeom prst="rect">
            <a:avLst/>
          </a:prstGeom>
          <a:noFill/>
          <a:ln w="6350">
            <a:solidFill>
              <a:srgbClr val="FF3E3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17920" y="15270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4353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earn/price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223760" y="1929384"/>
            <a:ext cx="1010412" cy="329184"/>
          </a:xfrm>
          <a:prstGeom prst="rect">
            <a:avLst/>
          </a:prstGeom>
          <a:solidFill>
            <a:srgbClr val="FF3E3E">
              <a:alpha val="7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223760" y="1929384"/>
            <a:ext cx="1010412" cy="329184"/>
          </a:xfrm>
          <a:prstGeom prst="rect">
            <a:avLst/>
          </a:prstGeom>
          <a:noFill/>
          <a:ln w="6350">
            <a:solidFill>
              <a:srgbClr val="FF3E3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19110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mvel1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79892" y="191109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 equity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223760" y="2313432"/>
            <a:ext cx="777240" cy="329184"/>
          </a:xfrm>
          <a:prstGeom prst="rect">
            <a:avLst/>
          </a:prstGeom>
          <a:solidFill>
            <a:srgbClr val="FF3E3E">
              <a:alpha val="7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223760" y="2313432"/>
            <a:ext cx="777240" cy="329184"/>
          </a:xfrm>
          <a:prstGeom prst="rect">
            <a:avLst/>
          </a:prstGeom>
          <a:noFill/>
          <a:ln w="6350">
            <a:solidFill>
              <a:srgbClr val="FF3E3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046720" y="229514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accruals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223760" y="2697480"/>
            <a:ext cx="621792" cy="329184"/>
          </a:xfrm>
          <a:prstGeom prst="rect">
            <a:avLst/>
          </a:prstGeom>
          <a:solidFill>
            <a:srgbClr val="FF3E3E">
              <a:alpha val="7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223760" y="2697480"/>
            <a:ext cx="621792" cy="329184"/>
          </a:xfrm>
          <a:prstGeom prst="rect">
            <a:avLst/>
          </a:prstGeom>
          <a:noFill/>
          <a:ln w="6350">
            <a:solidFill>
              <a:srgbClr val="FF3E3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17920" y="2679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M:dfy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891272" y="26791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spr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217920" y="914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 (19 mo)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56032" y="3456432"/>
            <a:ext cx="8631936" cy="11338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0040" y="3474720"/>
            <a:ext cx="850392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4572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→ Momentum dominates (trend-following in uptrends)  |  Transition → Volatility critical (uncertainty = risk pricing)  |  Bear → Value/Quality dominates (flight to fundamentals). NOT a statistical artifact — reflects deep economics. RegimeAwareNet's IC=4.80% confirms it captures these shifts.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REGIME-CONDITIONAL OOS R² (%)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varies by economic state — proves understanding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7680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"We value deep understanding, e.g., whether and why the model performs in this way."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1764792"/>
            <a:ext cx="8631936" cy="1664208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1783080"/>
            <a:ext cx="8595360" cy="1627632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7830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18562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39112" y="18562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 R²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58184" y="18562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 R²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77256" y="18562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 R²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96328" y="185623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1122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2148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39112" y="2148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58184" y="2148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-1.33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77256" y="2148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-37.10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96328" y="2148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fails catastrophically in Bear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" y="2404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39112" y="2404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58184" y="2404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-1.33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77256" y="2404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-37.10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96328" y="24048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doesn't help in extreme regimes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" y="2660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039112" y="2660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-0.78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58184" y="2660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-5.55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77256" y="2660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-13.92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96328" y="266090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Bear R² of trees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0040" y="2916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039112" y="2916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58184" y="2916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-4.39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77256" y="2916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-5.55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96328" y="291693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Bear R² overall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0040" y="317296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039112" y="317296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-7.14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58184" y="317296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-4.92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77256" y="317296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-32.46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196328" y="317296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conditioning active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6032" y="3547872"/>
            <a:ext cx="4151376" cy="11338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" y="3566160"/>
            <a:ext cx="402336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Bull &gt; Transition &gt; Bear.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markets have stable relationships.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Bear: 19 months of panic/structural breaks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 extremely difficult.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best at Bear: -5.55% (least bad).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3547872"/>
            <a:ext cx="4151376" cy="113385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663440" y="3566160"/>
            <a:ext cx="4114800" cy="109728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9160" y="3566160"/>
            <a:ext cx="402336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84632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REGIMENN BEHAVIOR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84632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RegimeNN: Transition R²=-4.92% competitive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tree models despite harder task.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Bull/Bear R² lower — macro embedding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data to calibrate magnitudes.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IC=4.80% proves ranking works; R² will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with more training epochs/data.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INTELLIGENCE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macro predictors — regime detection + stress scoring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8631936" cy="2432304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8595360" cy="2395728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772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9418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ROLE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11978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curve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6888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macro_tms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1772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Long-short bond yield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0" y="12344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wt: -1 (inverted=recession)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stress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6888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macro_dfy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1772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yield spread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0" y="14904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wt: +1 (high=fear)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fear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6888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macro_svar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1772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variance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17465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wt: +1 (high=vol spike)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6888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macro_dp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1772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Dividend-price ratio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200253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input (high=cheap mkt)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6888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macro_ep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1772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Earnings-price ratio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22585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input (fundamental value)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0040" y="2514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Risk-free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468880" y="2514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macro_tbl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17720" y="2514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T-bill rate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66560" y="25146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input (Fed policy proxy)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" y="2770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value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68880" y="2770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macro_bm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17720" y="2770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Book/market equity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766560" y="2770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input (aggregate valuation)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20040" y="3026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468880" y="3026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macro_ntis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17720" y="3026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equity issuance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766560" y="3026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 input (corp confidence)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685032"/>
            <a:ext cx="8631936" cy="85953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4320" y="3703320"/>
            <a:ext cx="8595360" cy="82296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370332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PATH: All 8 macros → HMM jointly (Gaussian covariance). Only TMS, DFY, SVAR → Stress Index (weighted composite, 0-100).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automated steps — python scripts/run_offline_pipeline.py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187452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960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1280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1600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252 parquet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impute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1,027,681 rows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85039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68880" y="86868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68680"/>
            <a:ext cx="187452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960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2560320" y="1280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60320" y="1600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Ridge XGB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 (q3 retrain)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refit cycles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45152" y="85039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86868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868680"/>
            <a:ext cx="187452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960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0" y="1280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NN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1600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Macro→embed(16)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Char→predict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retrain cycles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39712" y="85039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86868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868680"/>
            <a:ext cx="187452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35240" y="960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949440" y="1280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1600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detect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Bull/Trans/Bear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stress index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286207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74320" y="288036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2880360"/>
            <a:ext cx="18745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5156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65760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65760" y="3611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L/S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Sharpe,DD,Alpha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50592" y="286207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468880" y="288036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14600" y="2880360"/>
            <a:ext cx="18745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24612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2560320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560320" y="3611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Bull/Bear/Trans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45152" y="286207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663440" y="288036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2880360"/>
            <a:ext cx="18745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44068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5" name="Text 63"/>
          <p:cNvSpPr/>
          <p:nvPr/>
        </p:nvSpPr>
        <p:spPr>
          <a:xfrm>
            <a:off x="4754880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754880" y="3611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predictions.parquet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regime_states.parquet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39712" y="2862072"/>
            <a:ext cx="2002536" cy="168249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858000" y="2880360"/>
            <a:ext cx="1965960" cy="164592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2880360"/>
            <a:ext cx="18745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7635240" y="2971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6949440" y="3291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49440" y="36118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PNG figures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RUNTIME: ~6 hrs CPU  |  OUTPUT: 10 figures + parquet + JSON + dashboard.html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KPIs &amp; RUBRIC ALIGNMENT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ERIS maps to evaluation criteria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713232"/>
            <a:ext cx="2743200" cy="18288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850392"/>
            <a:ext cx="2002536" cy="14081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868680"/>
            <a:ext cx="1965960" cy="13716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868680"/>
            <a:ext cx="1874520" cy="22860"/>
          </a:xfrm>
          <a:prstGeom prst="rect">
            <a:avLst/>
          </a:prstGeom>
          <a:solidFill>
            <a:srgbClr val="39FF14">
              <a:alpha val="60000"/>
            </a:srgbClr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457200" cy="457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65760" y="14630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&gt; 3%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XGB: 3.06%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LGBM: 3.11%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RegimeNN: 4.80%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450592" y="850392"/>
            <a:ext cx="2002536" cy="14081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468880" y="868680"/>
            <a:ext cx="1965960" cy="13716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14600" y="868680"/>
            <a:ext cx="1874520" cy="22860"/>
          </a:xfrm>
          <a:prstGeom prst="rect">
            <a:avLst/>
          </a:prstGeom>
          <a:solidFill>
            <a:srgbClr val="00E5FF">
              <a:alpha val="60000"/>
            </a:srgbClr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960120"/>
            <a:ext cx="4572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560320" y="14630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 &gt; 0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256032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0.469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LGBM: 0.202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RegimeNN: 0.169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45152" y="850392"/>
            <a:ext cx="2002536" cy="14081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4663440" y="868680"/>
            <a:ext cx="1965960" cy="13716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09160" y="868680"/>
            <a:ext cx="1874520" cy="22860"/>
          </a:xfrm>
          <a:prstGeom prst="rect">
            <a:avLst/>
          </a:prstGeom>
          <a:solidFill>
            <a:srgbClr val="FF8C42">
              <a:alpha val="60000"/>
            </a:srgbClr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960120"/>
            <a:ext cx="457200" cy="45720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754880" y="14630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R²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475488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Bull: -0.13 to -7.14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Bear: -5.55 to -37.10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validates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839712" y="850392"/>
            <a:ext cx="2002536" cy="14081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6858000" y="868680"/>
            <a:ext cx="1965960" cy="13716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903720" y="868680"/>
            <a:ext cx="1874520" cy="22860"/>
          </a:xfrm>
          <a:prstGeom prst="rect">
            <a:avLst/>
          </a:prstGeom>
          <a:solidFill>
            <a:srgbClr val="FFD700">
              <a:alpha val="60000"/>
            </a:srgbClr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960120"/>
            <a:ext cx="457200" cy="4572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949440" y="14630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 SHIFTS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694944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Bull→momentum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Bear→value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Trans→volatility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256032" y="2450592"/>
            <a:ext cx="8631936" cy="1408176"/>
          </a:xfrm>
          <a:prstGeom prst="rect">
            <a:avLst/>
          </a:prstGeom>
          <a:solidFill>
            <a:srgbClr val="0CFFD0">
              <a:alpha val="20000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274320" y="2468880"/>
            <a:ext cx="8595360" cy="1371600"/>
          </a:xfrm>
          <a:prstGeom prst="rect">
            <a:avLst/>
          </a:prstGeom>
          <a:solidFill>
            <a:srgbClr val="091422">
              <a:alpha val="95000"/>
            </a:srgbClr>
          </a:solidFill>
          <a:ln w="15240">
            <a:solidFill>
              <a:srgbClr val="0CFFD0">
                <a:alpha val="70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20040" y="2468880"/>
            <a:ext cx="8503920" cy="22860"/>
          </a:xfrm>
          <a:prstGeom prst="rect">
            <a:avLst/>
          </a:prstGeom>
          <a:solidFill>
            <a:srgbClr val="0CFFD0">
              <a:alpha val="60000"/>
            </a:srgbClr>
          </a:solidFill>
          <a:ln/>
        </p:spPr>
      </p:sp>
      <p:sp>
        <p:nvSpPr>
          <p:cNvPr id="52" name="Text 46"/>
          <p:cNvSpPr/>
          <p:nvPr/>
        </p:nvSpPr>
        <p:spPr>
          <a:xfrm>
            <a:off x="320040" y="254203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3185160" y="254203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ERIS ADDRESSES IT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6050280" y="254203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320040" y="2798064"/>
            <a:ext cx="8503920" cy="9144"/>
          </a:xfrm>
          <a:prstGeom prst="rect">
            <a:avLst/>
          </a:prstGeom>
          <a:solidFill>
            <a:srgbClr val="0CFFD0">
              <a:alpha val="4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320040" y="2834640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3185160" y="2834640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RegimeAwareNet architecture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6050280" y="2834640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IC=4.80% — highest of all models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320040" y="309067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</a:t>
            </a:r>
            <a:endParaRPr lang="en-US" sz="800" dirty="0"/>
          </a:p>
        </p:txBody>
      </p:sp>
      <p:sp>
        <p:nvSpPr>
          <p:cNvPr id="60" name="Text 54"/>
          <p:cNvSpPr/>
          <p:nvPr/>
        </p:nvSpPr>
        <p:spPr>
          <a:xfrm>
            <a:off x="3185160" y="309067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 R², SHAP by regime, IC vs R² analysis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6050280" y="3090672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 harder than Bull; SHAP shifts validated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320040" y="3346704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Clarity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>
            <a:off x="3185160" y="3346704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return plots &gt; MSE tables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6050280" y="3346704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with 10 interactive figures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320040" y="3602736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</a:t>
            </a:r>
            <a:endParaRPr lang="en-US" sz="800" dirty="0"/>
          </a:p>
        </p:txBody>
      </p:sp>
      <p:sp>
        <p:nvSpPr>
          <p:cNvPr id="66" name="Text 60"/>
          <p:cNvSpPr/>
          <p:nvPr/>
        </p:nvSpPr>
        <p:spPr>
          <a:xfrm>
            <a:off x="3185160" y="3602736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Expanding window, 48+24 retrains, VW portfolio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6050280" y="3602736"/>
            <a:ext cx="277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look-ahead; 144 OOS months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69" name="Text 6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EVALUATION: INNOVATION + UNDERSTANDING WEIGHTED HIGHEST ON RUBRIC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4572"/>
          </a:xfrm>
          <a:prstGeom prst="rect">
            <a:avLst/>
          </a:prstGeom>
          <a:solidFill>
            <a:srgbClr val="0CFFD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942832" y="137160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4965192"/>
            <a:ext cx="548640" cy="18288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4636008"/>
            <a:ext cx="18288" cy="365760"/>
          </a:xfrm>
          <a:prstGeom prst="rect">
            <a:avLst/>
          </a:prstGeom>
          <a:solidFill>
            <a:srgbClr val="0CFFD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R I S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3200400" y="1051560"/>
            <a:ext cx="2743200" cy="13716"/>
          </a:xfrm>
          <a:prstGeom prst="rect">
            <a:avLst/>
          </a:prstGeom>
          <a:solidFill>
            <a:srgbClr val="0CFFD0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RegimeAwareNet IC = 4.80% — highest ranking power of all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Sharpe = 0.469 — positive risk-adjusted portfolio returns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20240" y="2697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shifts across Bull / Transition / Bear (SHAP confirmed)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Bull, 91 Transition, 19 Bear months detected via HMM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2024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expanding-window: 144 OOS months, zero look-ahead bias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you. Questions?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github.com/Debadri1999/Economic-Regime-Intelligence-System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2042</Words>
  <Application>Microsoft Office PowerPoint</Application>
  <PresentationFormat>On-screen Show (16:9)</PresentationFormat>
  <Paragraphs>539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ERIS — Economic Regime Intelligence System</dc:title>
  <dc:subject>PptxGenJS Presentation</dc:subject>
  <dc:creator>Debadri Sanyal</dc:creator>
  <cp:lastModifiedBy>DEBADRI SANYAL</cp:lastModifiedBy>
  <cp:revision>3</cp:revision>
  <dcterms:created xsi:type="dcterms:W3CDTF">2026-02-22T17:49:14Z</dcterms:created>
  <dcterms:modified xsi:type="dcterms:W3CDTF">2026-02-22T21:39:50Z</dcterms:modified>
</cp:coreProperties>
</file>